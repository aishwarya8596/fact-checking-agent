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1a5953b3734bd6" /><Relationship Type="http://schemas.openxmlformats.org/officeDocument/2006/relationships/extended-properties" Target="/docProps/app.xml" Id="Raffb946648dd4e97" /><Relationship Type="http://schemas.openxmlformats.org/officeDocument/2006/relationships/officeDocument" Target="/ppt/presentation.xml" Id="R6e92e8b8655a45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52646b85514d60"/>
  </p:sldMasterIdLst>
  <p:notesMasterIdLst>
    <p:notesMasterId xmlns:r="http://schemas.openxmlformats.org/officeDocument/2006/relationships" r:id="Ra67298582ded4a01"/>
  </p:notesMasterIdLst>
  <p:sldIdLst>
    <p:sldId xmlns:r="http://schemas.openxmlformats.org/officeDocument/2006/relationships" id="256" r:id="Rd6432f7bb58647b6"/>
    <p:sldId xmlns:r="http://schemas.openxmlformats.org/officeDocument/2006/relationships" id="257" r:id="R0310ab3948534687"/>
    <p:sldId xmlns:r="http://schemas.openxmlformats.org/officeDocument/2006/relationships" id="258" r:id="R0868f6ad620b40ce"/>
    <p:sldId xmlns:r="http://schemas.openxmlformats.org/officeDocument/2006/relationships" id="259" r:id="R08f7e1bcc1c14e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3349fa850e48c9" /><Relationship Type="http://schemas.openxmlformats.org/officeDocument/2006/relationships/slideMaster" Target="/ppt/slideMasters/slideMaster1.xml" Id="Rfa52646b85514d60" /><Relationship Type="http://schemas.openxmlformats.org/officeDocument/2006/relationships/notesMaster" Target="/ppt/notesMasters/notesMaster1.xml" Id="Ra67298582ded4a01" /><Relationship Type="http://schemas.openxmlformats.org/officeDocument/2006/relationships/presProps" Target="/ppt/presProps.xml" Id="R9c48b1c181de488c" /><Relationship Type="http://schemas.openxmlformats.org/officeDocument/2006/relationships/tableStyles" Target="/ppt/tableStyles.xml" Id="R306abf42be44438e" /><Relationship Type="http://schemas.openxmlformats.org/officeDocument/2006/relationships/slide" Target="/ppt/slides/slide1.xml" Id="Rd6432f7bb58647b6" /><Relationship Type="http://schemas.openxmlformats.org/officeDocument/2006/relationships/slide" Target="/ppt/slides/slide2.xml" Id="R0310ab3948534687" /><Relationship Type="http://schemas.openxmlformats.org/officeDocument/2006/relationships/slide" Target="/ppt/slides/slide3.xml" Id="R0868f6ad620b40ce" /><Relationship Type="http://schemas.openxmlformats.org/officeDocument/2006/relationships/slide" Target="/ppt/slides/slide4.xml" Id="R08f7e1bcc1c14e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d730b0e0ca470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04e9132994fde" /><Relationship Type="http://schemas.openxmlformats.org/officeDocument/2006/relationships/notesMaster" Target="/ppt/notesMasters/notesMaster1.xml" Id="R00ae1f75aa244c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d75536015c444a" /><Relationship Type="http://schemas.openxmlformats.org/officeDocument/2006/relationships/notesMaster" Target="/ppt/notesMasters/notesMaster1.xml" Id="Rf704d74df91c40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6e6146000b64942" /><Relationship Type="http://schemas.openxmlformats.org/officeDocument/2006/relationships/notesMaster" Target="/ppt/notesMasters/notesMaster1.xml" Id="R9cf108599c1e46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ec02cd807e4e37" /><Relationship Type="http://schemas.openxmlformats.org/officeDocument/2006/relationships/notesMaster" Target="/ppt/notesMasters/notesMaster1.xml" Id="R0b4761f1d7ef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README.md</a:t>
            </a:r>
          </a:p>
          <a:p xmlns:a="http://schemas.openxmlformats.org/drawingml/2006/main">
            <a:r>
              <a:t>- docs/langgraph-guardrails-evaluation-summary.md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README.md</a:t>
            </a:r>
          </a:p>
          <a:p xmlns:a="http://schemas.openxmlformats.org/drawingml/2006/main">
            <a:r>
              <a:t>- requirements.txt</a:t>
            </a:r>
          </a:p>
          <a:p xmlns:a="http://schemas.openxmlformats.org/drawingml/2006/main">
            <a:r>
              <a:t>- fact_checker/graph.py</a:t>
            </a:r>
          </a:p>
          <a:p xmlns:a="http://schemas.openxmlformats.org/drawingml/2006/main">
            <a:r>
              <a:t>- fact_checker/wikipedia.py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fact_checker/graph.py</a:t>
            </a:r>
          </a:p>
          <a:p xmlns:a="http://schemas.openxmlformats.org/drawingml/2006/main">
            <a:r>
              <a:t>- fact_checker/input_guardrails.py</a:t>
            </a:r>
          </a:p>
          <a:p xmlns:a="http://schemas.openxmlformats.org/drawingml/2006/main">
            <a:r>
              <a:t>- fact_checker/validation.py</a:t>
            </a:r>
          </a:p>
          <a:p xmlns:a="http://schemas.openxmlformats.org/drawingml/2006/main">
            <a:r>
              <a:t>- docs/langgraph-guardrails-evaluation-summary.md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README.md</a:t>
            </a:r>
          </a:p>
          <a:p xmlns:a="http://schemas.openxmlformats.org/drawingml/2006/main">
            <a:r>
              <a:t>- docs/session-23-web-retrieval-design.md</a:t>
            </a:r>
          </a:p>
          <a:p xmlns:a="http://schemas.openxmlformats.org/drawingml/2006/main">
            <a:r>
              <a:t>- docs/session-24-wikipedia-retrieval.md</a:t>
            </a:r>
          </a:p>
          <a:p xmlns:a="http://schemas.openxmlformats.org/drawingml/2006/main">
            <a:r>
              <a:t>- docs/langgraph-guardrails-evaluation-summary.md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aef084040240a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88f6dd66c74677" /><Relationship Type="http://schemas.openxmlformats.org/officeDocument/2006/relationships/slideLayout" Target="/ppt/slideLayouts/slideLayout1.xml" Id="R68525eb04382459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8525eb04382459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b012de70f84290" /><Relationship Type="http://schemas.openxmlformats.org/officeDocument/2006/relationships/notesSlide" Target="/ppt/notesSlides/notesSlide1.xml" Id="R217524b26e6f44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5215ad55d44462" /><Relationship Type="http://schemas.openxmlformats.org/officeDocument/2006/relationships/notesSlide" Target="/ppt/notesSlides/notesSlide2.xml" Id="Rd81778da47ed4d4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4036f89db8433c" /><Relationship Type="http://schemas.openxmlformats.org/officeDocument/2006/relationships/notesSlide" Target="/ppt/notesSlides/notesSlide3.xml" Id="R600f27e70c454f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11d283b234785" /><Relationship Type="http://schemas.openxmlformats.org/officeDocument/2006/relationships/notesSlide" Target="/ppt/notesSlides/notesSlide4.xml" Id="Rdf6aff66174249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5D86E-E619-43C7-9915-C41DD9CB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LLM CLASS PROJECT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5D5DDE-6741-4125-AD11-79EFF0A2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Fact Checking</a:t>
            </a:r>
          </a:p>
          <a:p xmlns:a="http://schemas.openxmlformats.org/drawingml/2006/main">
            <a:pPr algn="l">
              <a:defRPr sz="4650" b="1">
                <a:solidFill>
                  <a:srgbClr val="111111"/>
                </a:solidFill>
              </a:defRPr>
            </a:pPr>
            <a:r>
              <a:rPr sz="4650" b="1">
                <a:solidFill>
                  <a:srgbClr val="111111"/>
                </a:solidFill>
              </a:rPr>
              <a:t>Agentic System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4D16DB-A8C0-4C1D-86BF-0C951172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7905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5B66"/>
                </a:solidFill>
              </a:defRPr>
            </a:pPr>
            <a:r>
              <a:rPr sz="1800" b="0">
                <a:solidFill>
                  <a:srgbClr val="555B66"/>
                </a:solidFill>
              </a:rPr>
              <a:t>A beginner-friendly agent workflow that verifies claims using retrieved evidence, structured LLM output, citations, guardrails, and evaluation.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E29EB-BB54-4E76-9808-DA653AFF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24000"/>
            <a:ext cx="2190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78AFB-20EF-42E0-B2B3-49C2D889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57400"/>
            <a:ext cx="161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Claim</a:t>
            </a:r>
          </a:p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Evidence</a:t>
            </a:r>
          </a:p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+</a:t>
            </a:r>
          </a:p>
          <a:p xmlns:a="http://schemas.openxmlformats.org/drawingml/2006/main">
            <a:pPr algn="ctr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Verdict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125D0-9444-46CC-9D6D-DBAB7015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66"/>
                </a:solidFill>
              </a:defRPr>
            </a:pPr>
            <a:r>
              <a:rPr sz="1050" b="0">
                <a:solidFill>
                  <a:srgbClr val="555B66"/>
                </a:solidFill>
              </a:rPr>
              <a:t>Fact Checking Agentic System | 1</a:t>
            </a:r>
          </a:p>
        </p:txBody>
      </p:sp>
    </p:spTree>
    <p:extLst>
      <p:ext uri="{BB962C8B-B14F-4D97-AF65-F5344CB8AC3E}">
        <p14:creationId xmlns:p14="http://schemas.microsoft.com/office/powerpoint/2010/main" val="371990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14E6A-7E91-4E86-8463-71BDD5BB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USE CASES AND TOOLS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538AFD-5380-4AA8-B485-F4C4D627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same pattern can support enterprise fact checking.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2CCE92-2BF9-4E83-89DB-8142BD45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Enterprise 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EB7879-892A-4475-8EFF-D303F6CB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Journalists checking public statements against trusted sources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Researchers verifying claims in summaries, reports, or articles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Health, finance, or technology teams reviewing risky claims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Internal teams checking generated content before publishing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99BE20-E17C-4173-9732-3DB919A3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764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Tools and purpose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159C74-7567-44BC-92E2-C3337360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52650"/>
            <a:ext cx="4762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OpenAI: structured reasoning and verdict generation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Python: retrieval, validation, aggregation, and app logic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LangGraph: workflow nodes and graph orchestration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Gradio: simple UI for class demos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Wikipedia API: first web evidence source for this version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Mermaid/docs: architecture explanation and project notes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888C3-D8B3-49BE-9C9B-3D9DD748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66"/>
                </a:solidFill>
              </a:defRPr>
            </a:pPr>
            <a:r>
              <a:rPr sz="1050" b="0">
                <a:solidFill>
                  <a:srgbClr val="555B66"/>
                </a:solidFill>
              </a:rPr>
              <a:t>Fact Checking Agentic System | 2</a:t>
            </a:r>
          </a:p>
        </p:txBody>
      </p:sp>
    </p:spTree>
    <p:extLst>
      <p:ext uri="{BB962C8B-B14F-4D97-AF65-F5344CB8AC3E}">
        <p14:creationId xmlns:p14="http://schemas.microsoft.com/office/powerpoint/2010/main" val="11278849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F60ED-E3CD-4D5F-A98E-20053B80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LANGGRAPH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431030-1105-43DE-AB70-298E365E0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The graph turns one claim into an evidence-backed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B76B6-BAA0-4712-8C84-F450540A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E467BF-089D-44A0-912C-87F649D0B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Input guardrail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8DD02A-6841-4952-A9C8-520C36E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0C53E-8FCB-4728-84A8-FE02CC54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26695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A92A8-9DC3-4250-820D-7DED69F7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38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Decompose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2C17B8-CA16-409A-9CCD-35C973B0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83A211-26C6-4C42-BEC9-D02CE2ED0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6695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337DC-03CE-41ED-8AC2-F49B3AE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438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Check subclaims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64361C-B21E-4A37-8CC4-D8CE4B8B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76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A4770-63DA-496D-9BA0-1B9FEC7A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6695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F8597-8225-4F6C-AE89-DA008D99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38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Aggregate verdict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923EB-7268-4915-A24E-FB9A5C90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76500"/>
            <a:ext cx="32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F01816-F8EF-4AB8-9FD2-CC817A70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17716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E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3E5A5-12EE-4293-9D26-821F93A4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38400"/>
            <a:ext cx="1543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Build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A24337-3709-4201-8A19-934CCB32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Agent-like components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2B4E8D-37A2-44AC-9092-1C69111F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Claim Decomposer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Evidence Retriever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Evidence-Based Verifier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Citation Validator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Verdict Aggregator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Report Generator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2A8134-47F7-4550-B358-11C03F79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766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Current guardrails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2332A2-5C05-4C6F-8F8B-C150976E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71950"/>
            <a:ext cx="4476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Use only retrieved evidence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Strict JSON schema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Citation ID validation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Question/input guardrail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Rule-based final verdict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Retrieval diagnostics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9A750-CED8-479E-BF9B-E85480217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66"/>
                </a:solidFill>
              </a:defRPr>
            </a:pPr>
            <a:r>
              <a:rPr sz="1050" b="0">
                <a:solidFill>
                  <a:srgbClr val="555B66"/>
                </a:solidFill>
              </a:rPr>
              <a:t>Fact Checking Agentic System | 3</a:t>
            </a:r>
          </a:p>
        </p:txBody>
      </p:sp>
    </p:spTree>
    <p:extLst>
      <p:ext uri="{BB962C8B-B14F-4D97-AF65-F5344CB8AC3E}">
        <p14:creationId xmlns:p14="http://schemas.microsoft.com/office/powerpoint/2010/main" val="143650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7E3BA-CAE9-445D-B626-DBA8A07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CURRENT SCOPE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DD6552-BE34-4DA7-8C2C-540ED71F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This class version is intentionally small, but expandable.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2C5C6-5F50-49F0-B729-F56902FD5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Current class-project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2CF83F-6856-4D5C-B768-263C6B6C0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4953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Uses a small local evidence store first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Falls back to Wikipedia search when local evidence is weak or missing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Checks claims with citations and a readable final report</a:t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- Evaluates final verdict accuracy and citation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19195C-8FC9-4658-A91C-E4C00859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11111"/>
                </a:solidFill>
              </a:defRPr>
            </a:pPr>
            <a:r>
              <a:rPr sz="1950" b="1">
                <a:solidFill>
                  <a:srgbClr val="111111"/>
                </a:solidFill>
              </a:rPr>
              <a:t>Future expansion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6F756D-D4DB-460F-9A46-86A57A4A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1924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Add domain sources such as CDC, WHO, SEC, FIFA, and trusted news APIs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Improve entity/date-aware retrieval and conflict detection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Add stronger prompt-injection and hallucination guardrails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Add human review for high-risk claims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- Track more evaluation metrics beyond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55E96D-EC68-4C1A-9B02-CAEAF4EB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10572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CB54D0-9F72-4807-86E1-FD942E628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29250"/>
            <a:ext cx="986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Key message: Wikipedia is enough for the class demo. Real enterprise fact checking should connect to trusted domain-specific sources.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B9CB5-292A-4D54-B117-BD83F88D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55B66"/>
                </a:solidFill>
              </a:defRPr>
            </a:pPr>
            <a:r>
              <a:rPr sz="1050" b="0">
                <a:solidFill>
                  <a:srgbClr val="555B66"/>
                </a:solidFill>
              </a:rPr>
              <a:t>Fact Checking Agentic System | 4</a:t>
            </a:r>
          </a:p>
        </p:txBody>
      </p:sp>
    </p:spTree>
    <p:extLst>
      <p:ext uri="{BB962C8B-B14F-4D97-AF65-F5344CB8AC3E}">
        <p14:creationId xmlns:p14="http://schemas.microsoft.com/office/powerpoint/2010/main" val="1482290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2026-08-19T22:52:17.4760000Z</dcterms:created>
  <dcterms:modified xsi:type="dcterms:W3CDTF">2026-08-19T22:52:17.4760000Z</dcterms:modified>
</coreProperties>
</file>